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1" r:id="rId3"/>
    <p:sldId id="258" r:id="rId4"/>
    <p:sldId id="259" r:id="rId5"/>
    <p:sldId id="260" r:id="rId6"/>
    <p:sldId id="262" r:id="rId7"/>
    <p:sldId id="263" r:id="rId8"/>
    <p:sldId id="267" r:id="rId9"/>
    <p:sldId id="268" r:id="rId10"/>
    <p:sldId id="264" r:id="rId11"/>
    <p:sldId id="265" r:id="rId12"/>
    <p:sldId id="269" r:id="rId13"/>
    <p:sldId id="266"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0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11/11/2025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scikit-learn.org/" TargetMode="External"/><Relationship Id="rId2" Type="http://schemas.openxmlformats.org/officeDocument/2006/relationships/hyperlink" Target="https://www.tensorflow.org/" TargetMode="External"/><Relationship Id="rId1" Type="http://schemas.openxmlformats.org/officeDocument/2006/relationships/slideLayout" Target="../slideLayouts/slideLayout11.xml"/><Relationship Id="rId5" Type="http://schemas.openxmlformats.org/officeDocument/2006/relationships/hyperlink" Target="https://streamlit.io/" TargetMode="External"/><Relationship Id="rId4" Type="http://schemas.openxmlformats.org/officeDocument/2006/relationships/hyperlink" Target="https://plotly.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1D152-98C1-D34E-67DD-10D5CCEDE0AB}"/>
              </a:ext>
            </a:extLst>
          </p:cNvPr>
          <p:cNvSpPr>
            <a:spLocks noGrp="1"/>
          </p:cNvSpPr>
          <p:nvPr>
            <p:ph type="ctrTitle"/>
          </p:nvPr>
        </p:nvSpPr>
        <p:spPr/>
        <p:txBody>
          <a:bodyPr>
            <a:normAutofit fontScale="90000"/>
          </a:bodyPr>
          <a:lstStyle/>
          <a:p>
            <a:r>
              <a:rPr lang="en-US" dirty="0" err="1"/>
              <a:t>PrognosAI</a:t>
            </a:r>
            <a:r>
              <a:rPr lang="en-US" dirty="0"/>
              <a:t>: AI-Driven Predictive Maintenance System Using Time-Series Sensor Data</a:t>
            </a:r>
            <a:endParaRPr lang="en-IN" dirty="0"/>
          </a:p>
        </p:txBody>
      </p:sp>
      <p:sp>
        <p:nvSpPr>
          <p:cNvPr id="3" name="Subtitle 2">
            <a:extLst>
              <a:ext uri="{FF2B5EF4-FFF2-40B4-BE49-F238E27FC236}">
                <a16:creationId xmlns:a16="http://schemas.microsoft.com/office/drawing/2014/main" id="{54A3B5D9-2040-40D4-31AA-9B1085ABD730}"/>
              </a:ext>
            </a:extLst>
          </p:cNvPr>
          <p:cNvSpPr>
            <a:spLocks noGrp="1"/>
          </p:cNvSpPr>
          <p:nvPr>
            <p:ph type="subTitle" idx="1"/>
          </p:nvPr>
        </p:nvSpPr>
        <p:spPr/>
        <p:txBody>
          <a:bodyPr/>
          <a:lstStyle/>
          <a:p>
            <a:r>
              <a:rPr lang="en-IN" dirty="0"/>
              <a:t>		</a:t>
            </a:r>
            <a:r>
              <a:rPr lang="en-IN" dirty="0">
                <a:solidFill>
                  <a:schemeClr val="tx1"/>
                </a:solidFill>
              </a:rPr>
              <a:t>	</a:t>
            </a:r>
            <a:r>
              <a:rPr lang="en-US" i="1" dirty="0">
                <a:solidFill>
                  <a:schemeClr val="tx1"/>
                </a:solidFill>
              </a:rPr>
              <a:t>Infosys Springboard Virtual Internship 6.0</a:t>
            </a:r>
          </a:p>
          <a:p>
            <a:r>
              <a:rPr lang="en-IN" dirty="0">
                <a:solidFill>
                  <a:schemeClr val="tx1"/>
                </a:solidFill>
              </a:rPr>
              <a:t>						Polisetty Vyshnavi</a:t>
            </a:r>
          </a:p>
        </p:txBody>
      </p:sp>
    </p:spTree>
    <p:extLst>
      <p:ext uri="{BB962C8B-B14F-4D97-AF65-F5344CB8AC3E}">
        <p14:creationId xmlns:p14="http://schemas.microsoft.com/office/powerpoint/2010/main" val="344049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7A751-C800-860D-9D34-3489B192DB64}"/>
              </a:ext>
            </a:extLst>
          </p:cNvPr>
          <p:cNvSpPr>
            <a:spLocks noGrp="1"/>
          </p:cNvSpPr>
          <p:nvPr>
            <p:ph type="title"/>
          </p:nvPr>
        </p:nvSpPr>
        <p:spPr>
          <a:xfrm>
            <a:off x="964324" y="-567229"/>
            <a:ext cx="9906000" cy="2852737"/>
          </a:xfrm>
        </p:spPr>
        <p:txBody>
          <a:bodyPr/>
          <a:lstStyle/>
          <a:p>
            <a:r>
              <a:rPr lang="en-IN" dirty="0"/>
              <a:t>Agenda</a:t>
            </a:r>
          </a:p>
        </p:txBody>
      </p:sp>
      <p:sp>
        <p:nvSpPr>
          <p:cNvPr id="3" name="Text Placeholder 2">
            <a:extLst>
              <a:ext uri="{FF2B5EF4-FFF2-40B4-BE49-F238E27FC236}">
                <a16:creationId xmlns:a16="http://schemas.microsoft.com/office/drawing/2014/main" id="{7BCAFD2F-A399-1C32-92E6-A966DE86B150}"/>
              </a:ext>
            </a:extLst>
          </p:cNvPr>
          <p:cNvSpPr>
            <a:spLocks noGrp="1"/>
          </p:cNvSpPr>
          <p:nvPr>
            <p:ph type="body" idx="1"/>
          </p:nvPr>
        </p:nvSpPr>
        <p:spPr>
          <a:xfrm>
            <a:off x="964324" y="2764220"/>
            <a:ext cx="9906000" cy="2852736"/>
          </a:xfrm>
        </p:spPr>
        <p:txBody>
          <a:bodyPr>
            <a:normAutofit/>
          </a:bodyPr>
          <a:lstStyle/>
          <a:p>
            <a:pPr lvl="0" eaLnBrk="0" fontAlgn="base" hangingPunct="0">
              <a:lnSpc>
                <a:spcPct val="100000"/>
              </a:lnSpc>
              <a:spcBef>
                <a:spcPct val="0"/>
              </a:spcBef>
              <a:spcAft>
                <a:spcPct val="0"/>
              </a:spcAft>
              <a:buSzTx/>
            </a:pPr>
            <a:r>
              <a:rPr lang="en-US" altLang="en-US" cap="none" dirty="0">
                <a:solidFill>
                  <a:schemeClr val="tx1"/>
                </a:solidFill>
                <a:latin typeface="Arial" panose="020B0604020202020204" pitchFamily="34" charset="0"/>
              </a:rPr>
              <a:t>The goal of this internship project was to create an AI-powered predictive maintenance system that uses time-series sensor data to predict the Remaining Useful Life (RUL) of industrial equipment. The team analyzed sensor readings and identified early indicators of possible failure using sophisticated deep learning techniques, including Long Short-Term Memory (LSTM) models.</a:t>
            </a:r>
            <a:br>
              <a:rPr lang="en-US" altLang="en-US" cap="none" dirty="0">
                <a:solidFill>
                  <a:schemeClr val="tx1"/>
                </a:solidFill>
                <a:latin typeface="Arial" panose="020B0604020202020204" pitchFamily="34" charset="0"/>
              </a:rPr>
            </a:br>
            <a:r>
              <a:rPr lang="en-US" altLang="en-US" cap="none" dirty="0">
                <a:solidFill>
                  <a:schemeClr val="tx1"/>
                </a:solidFill>
                <a:latin typeface="Arial" panose="020B0604020202020204" pitchFamily="34" charset="0"/>
              </a:rPr>
              <a:t>The goal was to assist enterprises in switching from reactive to predictive maintenance while guaranteeing dependability, cutting expenses, and minimizing downtime.</a:t>
            </a:r>
            <a:br>
              <a:rPr lang="en-US" altLang="en-US" cap="none" dirty="0">
                <a:solidFill>
                  <a:schemeClr val="tx1"/>
                </a:solidFill>
                <a:latin typeface="Arial" panose="020B0604020202020204" pitchFamily="34" charset="0"/>
              </a:rPr>
            </a:br>
            <a:r>
              <a:rPr lang="en-US" altLang="en-US" cap="none" dirty="0">
                <a:solidFill>
                  <a:schemeClr val="tx1"/>
                </a:solidFill>
                <a:latin typeface="Arial" panose="020B0604020202020204" pitchFamily="34" charset="0"/>
              </a:rPr>
              <a:t>We investigated the full lifecycle of an AI project during this internship, from data pretreatment and modelbuilding to the creation of a visual dashboard for interactive prediction monitoring.</a:t>
            </a:r>
          </a:p>
          <a:p>
            <a:endParaRPr lang="en-IN" dirty="0"/>
          </a:p>
        </p:txBody>
      </p:sp>
    </p:spTree>
    <p:extLst>
      <p:ext uri="{BB962C8B-B14F-4D97-AF65-F5344CB8AC3E}">
        <p14:creationId xmlns:p14="http://schemas.microsoft.com/office/powerpoint/2010/main" val="2981611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F087E3-8A4D-C66D-A4CB-C5B7863A9707}"/>
              </a:ext>
            </a:extLst>
          </p:cNvPr>
          <p:cNvPicPr>
            <a:picLocks noChangeAspect="1"/>
          </p:cNvPicPr>
          <p:nvPr/>
        </p:nvPicPr>
        <p:blipFill>
          <a:blip r:embed="rId2"/>
          <a:stretch>
            <a:fillRect/>
          </a:stretch>
        </p:blipFill>
        <p:spPr>
          <a:xfrm>
            <a:off x="1176863" y="2557328"/>
            <a:ext cx="9838273" cy="2331922"/>
          </a:xfrm>
          <a:prstGeom prst="rect">
            <a:avLst/>
          </a:prstGeom>
        </p:spPr>
      </p:pic>
      <p:sp>
        <p:nvSpPr>
          <p:cNvPr id="6" name="Title 5">
            <a:extLst>
              <a:ext uri="{FF2B5EF4-FFF2-40B4-BE49-F238E27FC236}">
                <a16:creationId xmlns:a16="http://schemas.microsoft.com/office/drawing/2014/main" id="{C7E2A533-36E9-64C3-EAB8-07FB22AFE6FE}"/>
              </a:ext>
            </a:extLst>
          </p:cNvPr>
          <p:cNvSpPr>
            <a:spLocks noGrp="1"/>
          </p:cNvSpPr>
          <p:nvPr>
            <p:ph type="title"/>
          </p:nvPr>
        </p:nvSpPr>
        <p:spPr>
          <a:xfrm>
            <a:off x="1109138" y="1078758"/>
            <a:ext cx="9905998" cy="1478570"/>
          </a:xfrm>
        </p:spPr>
        <p:txBody>
          <a:bodyPr/>
          <a:lstStyle/>
          <a:p>
            <a:r>
              <a:rPr lang="en-IN" sz="3200" dirty="0"/>
              <a:t>System model</a:t>
            </a:r>
            <a:br>
              <a:rPr lang="en-IN" dirty="0"/>
            </a:br>
            <a:endParaRPr lang="en-IN" dirty="0"/>
          </a:p>
        </p:txBody>
      </p:sp>
    </p:spTree>
    <p:extLst>
      <p:ext uri="{BB962C8B-B14F-4D97-AF65-F5344CB8AC3E}">
        <p14:creationId xmlns:p14="http://schemas.microsoft.com/office/powerpoint/2010/main" val="3975472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71C61-B85A-84FE-0A00-D61379CB312C}"/>
              </a:ext>
            </a:extLst>
          </p:cNvPr>
          <p:cNvSpPr>
            <a:spLocks noGrp="1"/>
          </p:cNvSpPr>
          <p:nvPr>
            <p:ph type="title"/>
          </p:nvPr>
        </p:nvSpPr>
        <p:spPr>
          <a:xfrm>
            <a:off x="1141412" y="609600"/>
            <a:ext cx="8549125" cy="1639886"/>
          </a:xfrm>
        </p:spPr>
        <p:txBody>
          <a:bodyPr>
            <a:normAutofit/>
          </a:bodyPr>
          <a:lstStyle/>
          <a:p>
            <a:r>
              <a:rPr lang="en-IN" sz="3200" dirty="0"/>
              <a:t>Milestone 1 – Data Understanding &amp; Preprocessing</a:t>
            </a:r>
            <a:br>
              <a:rPr lang="en-IN" b="1" dirty="0"/>
            </a:br>
            <a:endParaRPr lang="en-IN" dirty="0"/>
          </a:p>
        </p:txBody>
      </p:sp>
      <p:sp>
        <p:nvSpPr>
          <p:cNvPr id="12" name="Rectangle 8">
            <a:extLst>
              <a:ext uri="{FF2B5EF4-FFF2-40B4-BE49-F238E27FC236}">
                <a16:creationId xmlns:a16="http://schemas.microsoft.com/office/drawing/2014/main" id="{29F7E1B0-EF47-063C-6135-C4004DD7EAA2}"/>
              </a:ext>
            </a:extLst>
          </p:cNvPr>
          <p:cNvSpPr>
            <a:spLocks noChangeArrowheads="1"/>
          </p:cNvSpPr>
          <p:nvPr/>
        </p:nvSpPr>
        <p:spPr bwMode="auto">
          <a:xfrm>
            <a:off x="672662" y="2046275"/>
            <a:ext cx="1226557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guarantee consistent feature scales, the data was cleaned and normalized using </a:t>
            </a:r>
          </a:p>
          <a:p>
            <a:pPr marR="0" lvl="0" algn="l" defTabSz="914400" rtl="0" eaLnBrk="0" fontAlgn="base" latinLnBrk="0" hangingPunct="0">
              <a:lnSpc>
                <a:spcPct val="100000"/>
              </a:lnSpc>
              <a:spcBef>
                <a:spcPct val="0"/>
              </a:spcBef>
              <a:spcAft>
                <a:spcPct val="0"/>
              </a:spcAft>
              <a:buClrTx/>
              <a:buSzTx/>
              <a:tabLst/>
            </a:pPr>
            <a:r>
              <a:rPr lang="en-US" altLang="en-US" sz="2000" dirty="0">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MinMaxScaler</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endParaRPr lang="en-US" altLang="en-US" sz="20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Determined each equipment record's Remaining Useful Life (RUL).</a:t>
            </a:r>
            <a:endParaRPr lang="en-US" altLang="en-US" sz="20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By eliminating constant or low-variance features, the most pertinent sensors were chosen.</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latin typeface="Arial" panose="020B0604020202020204" pitchFamily="34" charset="0"/>
              </a:rPr>
              <a:t>C</a:t>
            </a:r>
            <a:r>
              <a:rPr kumimoji="0" lang="en-US" altLang="en-US" sz="2000" b="0" i="0" u="none" strike="noStrike" cap="none" normalizeH="0" baseline="0" dirty="0">
                <a:ln>
                  <a:noFill/>
                </a:ln>
                <a:solidFill>
                  <a:schemeClr val="tx1"/>
                </a:solidFill>
                <a:effectLst/>
                <a:latin typeface="Arial" panose="020B0604020202020204" pitchFamily="34" charset="0"/>
              </a:rPr>
              <a:t>reated sequence data (windowed time-series data) to prepare the LSTM model's input.</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processed datasets were saved in organized formats for future use.</a:t>
            </a:r>
          </a:p>
        </p:txBody>
      </p:sp>
    </p:spTree>
    <p:extLst>
      <p:ext uri="{BB962C8B-B14F-4D97-AF65-F5344CB8AC3E}">
        <p14:creationId xmlns:p14="http://schemas.microsoft.com/office/powerpoint/2010/main" val="2743707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19BF962-C9A3-8CEF-32F1-4C7ACEAAB225}"/>
              </a:ext>
            </a:extLst>
          </p:cNvPr>
          <p:cNvSpPr>
            <a:spLocks noGrp="1"/>
          </p:cNvSpPr>
          <p:nvPr>
            <p:ph type="body" idx="1"/>
          </p:nvPr>
        </p:nvSpPr>
        <p:spPr>
          <a:xfrm>
            <a:off x="1143000" y="1110956"/>
            <a:ext cx="9906000" cy="1374776"/>
          </a:xfrm>
        </p:spPr>
        <p:txBody>
          <a:bodyPr>
            <a:normAutofit/>
          </a:bodyPr>
          <a:lstStyle/>
          <a:p>
            <a:r>
              <a:rPr lang="en-IN" sz="3200" dirty="0"/>
              <a:t>Milestone 2 — Model Development</a:t>
            </a:r>
          </a:p>
        </p:txBody>
      </p:sp>
      <p:sp>
        <p:nvSpPr>
          <p:cNvPr id="8" name="TextBox 7">
            <a:extLst>
              <a:ext uri="{FF2B5EF4-FFF2-40B4-BE49-F238E27FC236}">
                <a16:creationId xmlns:a16="http://schemas.microsoft.com/office/drawing/2014/main" id="{3F42682B-4C4E-510D-228D-2D8D4D350A06}"/>
              </a:ext>
            </a:extLst>
          </p:cNvPr>
          <p:cNvSpPr txBox="1"/>
          <p:nvPr/>
        </p:nvSpPr>
        <p:spPr>
          <a:xfrm>
            <a:off x="872359" y="1994392"/>
            <a:ext cx="10447282" cy="4339650"/>
          </a:xfrm>
          <a:prstGeom prst="rect">
            <a:avLst/>
          </a:prstGeom>
          <a:noFill/>
        </p:spPr>
        <p:txBody>
          <a:bodyPr wrap="square">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For increased stability and generalization, a layered LSTM architecture with batch normalization </a:t>
            </a:r>
            <a:br>
              <a:rPr lang="en-US" altLang="en-US" sz="2000" dirty="0">
                <a:latin typeface="Arial" panose="020B0604020202020204" pitchFamily="34" charset="0"/>
              </a:rPr>
            </a:br>
            <a:r>
              <a:rPr lang="en-US" altLang="en-US" sz="2000" dirty="0">
                <a:latin typeface="Arial" panose="020B0604020202020204" pitchFamily="34" charset="0"/>
              </a:rPr>
              <a:t>and dropout was used.</a:t>
            </a:r>
            <a:br>
              <a:rPr kumimoji="0" lang="en-US" altLang="en-US" sz="2000" b="0" i="0" u="none" strike="noStrike" cap="none" normalizeH="0" baseline="0" dirty="0">
                <a:ln>
                  <a:noFill/>
                </a:ln>
                <a:solidFill>
                  <a:schemeClr val="tx1"/>
                </a:solidFill>
                <a:effectLst/>
                <a:latin typeface="Arial" panose="020B0604020202020204" pitchFamily="34" charset="0"/>
              </a:rPr>
            </a:br>
            <a:endParaRPr lang="en-US" altLang="en-US" sz="20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Used Mean Squared Error (MSE) as the loss function and the Adam optimizer.</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endParaRPr lang="en-US" altLang="en-US" sz="20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To ensure robustness, the model was trained using cross-validation and assessed using metrics </a:t>
            </a:r>
            <a:br>
              <a:rPr lang="en-US" altLang="en-US" sz="2000" dirty="0">
                <a:latin typeface="Arial" panose="020B0604020202020204" pitchFamily="34" charset="0"/>
              </a:rPr>
            </a:br>
            <a:r>
              <a:rPr lang="en-US" altLang="en-US" sz="2000" dirty="0">
                <a:latin typeface="Arial" panose="020B0604020202020204" pitchFamily="34" charset="0"/>
              </a:rPr>
              <a:t>including MAE, RMSE, and R² score.</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For best outcomes, hyperparameters including batch size, learning rate, and epochs were adjusted.</a:t>
            </a:r>
            <a:br>
              <a:rPr lang="en-US" altLang="en-US" sz="2000" dirty="0">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103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832F-E1C9-E986-3B89-9656C7D6ED5E}"/>
              </a:ext>
            </a:extLst>
          </p:cNvPr>
          <p:cNvSpPr>
            <a:spLocks noGrp="1"/>
          </p:cNvSpPr>
          <p:nvPr>
            <p:ph type="title"/>
          </p:nvPr>
        </p:nvSpPr>
        <p:spPr>
          <a:xfrm>
            <a:off x="1143000" y="462784"/>
            <a:ext cx="9906000" cy="1374777"/>
          </a:xfrm>
        </p:spPr>
        <p:txBody>
          <a:bodyPr>
            <a:normAutofit/>
          </a:bodyPr>
          <a:lstStyle/>
          <a:p>
            <a:r>
              <a:rPr lang="en-IN" sz="3200" dirty="0"/>
              <a:t>Milestone 3 — Model Evaluation and Testing</a:t>
            </a:r>
          </a:p>
        </p:txBody>
      </p:sp>
      <p:sp>
        <p:nvSpPr>
          <p:cNvPr id="7" name="Rectangle 3">
            <a:extLst>
              <a:ext uri="{FF2B5EF4-FFF2-40B4-BE49-F238E27FC236}">
                <a16:creationId xmlns:a16="http://schemas.microsoft.com/office/drawing/2014/main" id="{653EA8D0-C10A-F9A5-0C36-46905C09AF28}"/>
              </a:ext>
            </a:extLst>
          </p:cNvPr>
          <p:cNvSpPr>
            <a:spLocks noGrp="1" noChangeArrowheads="1"/>
          </p:cNvSpPr>
          <p:nvPr>
            <p:ph type="body" idx="1"/>
          </p:nvPr>
        </p:nvSpPr>
        <p:spPr bwMode="auto">
          <a:xfrm>
            <a:off x="1141413" y="2315359"/>
            <a:ext cx="1074524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LSTM-based regression model was put into practice to forecast Remaining Useful Life (RUL).</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5-fold cross-validation was used to assess performance robustly.</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Across all folds, average R2 = 0.85, MAE ≈ 0.38, and RMSE ≈ 0.47 were attained.</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best results, adjust the learning rate, batch size, and number of LSTM units as hyperparameters.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Sequence windowing and data standardization were used to increase model accuracy.</a:t>
            </a:r>
            <a:br>
              <a:rPr kumimoji="0" lang="en-US" altLang="en-US" sz="1800" b="0" i="0" u="none" strike="noStrike" cap="none" normalizeH="0" baseline="0" dirty="0">
                <a:ln>
                  <a:noFill/>
                </a:ln>
                <a:solidFill>
                  <a:schemeClr val="tx1"/>
                </a:solidFill>
                <a:effectLst/>
                <a:latin typeface="Arial" panose="020B0604020202020204" pitchFamily="34" charset="0"/>
              </a:rPr>
            </a:br>
            <a:endParaRPr lang="en-US" altLang="en-US" cap="none"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Scalers (</a:t>
            </a:r>
            <a:r>
              <a:rPr kumimoji="0" lang="en-US" altLang="en-US" sz="1800" b="0" i="0" u="none" strike="noStrike" cap="none" normalizeH="0" baseline="0" dirty="0" err="1">
                <a:ln>
                  <a:noFill/>
                </a:ln>
                <a:solidFill>
                  <a:schemeClr val="tx1"/>
                </a:solidFill>
                <a:effectLst/>
                <a:latin typeface="Arial" panose="020B0604020202020204" pitchFamily="34" charset="0"/>
              </a:rPr>
              <a:t>optimized_scalers.pkl</a:t>
            </a:r>
            <a:r>
              <a:rPr kumimoji="0" lang="en-US" altLang="en-US" sz="1800" b="0" i="0" u="none" strike="noStrike" cap="none" normalizeH="0" baseline="0" dirty="0">
                <a:ln>
                  <a:noFill/>
                </a:ln>
                <a:solidFill>
                  <a:schemeClr val="tx1"/>
                </a:solidFill>
                <a:effectLst/>
                <a:latin typeface="Arial" panose="020B0604020202020204" pitchFamily="34" charset="0"/>
              </a:rPr>
              <a:t>) and the optimized model (optimized_lstm_98plus.keras) were saved.</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744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C9630-3916-2DD7-8AC6-C1D85AE29E1B}"/>
              </a:ext>
            </a:extLst>
          </p:cNvPr>
          <p:cNvSpPr>
            <a:spLocks noGrp="1"/>
          </p:cNvSpPr>
          <p:nvPr>
            <p:ph type="title"/>
          </p:nvPr>
        </p:nvSpPr>
        <p:spPr>
          <a:xfrm>
            <a:off x="1216573" y="630951"/>
            <a:ext cx="9906000" cy="1092746"/>
          </a:xfrm>
        </p:spPr>
        <p:txBody>
          <a:bodyPr>
            <a:normAutofit/>
          </a:bodyPr>
          <a:lstStyle/>
          <a:p>
            <a:r>
              <a:rPr lang="en-US" sz="3200" dirty="0"/>
              <a:t>Milestone 4 — Deployment and Visualization</a:t>
            </a:r>
            <a:endParaRPr lang="en-IN" sz="3200" dirty="0"/>
          </a:p>
        </p:txBody>
      </p:sp>
      <p:sp>
        <p:nvSpPr>
          <p:cNvPr id="5" name="Rectangle 2">
            <a:extLst>
              <a:ext uri="{FF2B5EF4-FFF2-40B4-BE49-F238E27FC236}">
                <a16:creationId xmlns:a16="http://schemas.microsoft.com/office/drawing/2014/main" id="{24982C41-0D40-A8F4-6EB9-3836D572EAA1}"/>
              </a:ext>
            </a:extLst>
          </p:cNvPr>
          <p:cNvSpPr>
            <a:spLocks noGrp="1" noChangeArrowheads="1"/>
          </p:cNvSpPr>
          <p:nvPr>
            <p:ph type="body" idx="1"/>
          </p:nvPr>
        </p:nvSpPr>
        <p:spPr bwMode="auto">
          <a:xfrm>
            <a:off x="983758" y="2173003"/>
            <a:ext cx="10745249" cy="424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was used in its construction to create a user experience that is responsive and easy to use.</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Enabled users to upload data files or manually enter sensor values.</a:t>
            </a:r>
            <a:br>
              <a:rPr kumimoji="0" lang="en-US" altLang="en-US" sz="1800" b="0" i="0" u="none" strike="noStrike" cap="none" normalizeH="0" baseline="0" dirty="0">
                <a:ln>
                  <a:noFill/>
                </a:ln>
                <a:solidFill>
                  <a:schemeClr val="tx1"/>
                </a:solidFill>
                <a:effectLst/>
                <a:latin typeface="Arial" panose="020B0604020202020204" pitchFamily="34" charset="0"/>
              </a:rPr>
            </a:br>
            <a:endParaRPr lang="en-US" altLang="en-US" cap="none"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Presented trends, alarms, and anticipated RUL findings in an understandable and graphic way.</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Green (Safe), Yellow (Warning), and Red (Critical) color codes are used in integrated alert zones</a:t>
            </a:r>
          </a:p>
          <a:p>
            <a:pPr marR="0" lvl="0" algn="l" defTabSz="914400" rtl="0" eaLnBrk="0" fontAlgn="base" latinLnBrk="0" hangingPunct="0">
              <a:lnSpc>
                <a:spcPct val="100000"/>
              </a:lnSpc>
              <a:spcBef>
                <a:spcPct val="0"/>
              </a:spcBef>
              <a:spcAft>
                <a:spcPct val="0"/>
              </a:spcAft>
              <a:buClrTx/>
              <a:buSzTx/>
              <a:tabLst/>
            </a:pPr>
            <a:r>
              <a:rPr lang="en-US" altLang="en-US" cap="none"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to assist users in rapidly determining the condition of the equipment.</a:t>
            </a:r>
            <a:endParaRPr lang="en-US" altLang="en-US" cap="none"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cap="none" dirty="0">
                <a:solidFill>
                  <a:schemeClr val="tx1"/>
                </a:solidFill>
                <a:latin typeface="Arial" panose="020B0604020202020204" pitchFamily="34" charset="0"/>
              </a:rPr>
              <a:t>   </a:t>
            </a:r>
            <a:endParaRPr lang="en-IN" sz="2000" dirty="0">
              <a:latin typeface="Arial" panose="020B0604020202020204" pitchFamily="34" charset="0"/>
              <a:cs typeface="Arial" panose="020B0604020202020204" pitchFamily="34" charset="0"/>
            </a:endParaRPr>
          </a:p>
          <a:p>
            <a:r>
              <a:rPr lang="en-IN" dirty="0"/>
              <a:t>	🟢 Safe Zone</a:t>
            </a:r>
          </a:p>
          <a:p>
            <a:r>
              <a:rPr lang="en-IN" dirty="0"/>
              <a:t>	🟡 Warning Zone</a:t>
            </a:r>
          </a:p>
          <a:p>
            <a:r>
              <a:rPr lang="en-IN" dirty="0"/>
              <a:t>	🔴 Critical Zone</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859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34A373-6479-0421-3639-43DE6E36BDCB}"/>
              </a:ext>
            </a:extLst>
          </p:cNvPr>
          <p:cNvPicPr>
            <a:picLocks noChangeAspect="1"/>
          </p:cNvPicPr>
          <p:nvPr/>
        </p:nvPicPr>
        <p:blipFill>
          <a:blip r:embed="rId2"/>
          <a:stretch>
            <a:fillRect/>
          </a:stretch>
        </p:blipFill>
        <p:spPr>
          <a:xfrm>
            <a:off x="396806" y="240797"/>
            <a:ext cx="4697036" cy="3158236"/>
          </a:xfrm>
          <a:prstGeom prst="rect">
            <a:avLst/>
          </a:prstGeom>
        </p:spPr>
      </p:pic>
      <p:pic>
        <p:nvPicPr>
          <p:cNvPr id="5" name="Picture 4">
            <a:extLst>
              <a:ext uri="{FF2B5EF4-FFF2-40B4-BE49-F238E27FC236}">
                <a16:creationId xmlns:a16="http://schemas.microsoft.com/office/drawing/2014/main" id="{FC6663E1-A0ED-EC41-5D79-A5E37F367012}"/>
              </a:ext>
            </a:extLst>
          </p:cNvPr>
          <p:cNvPicPr>
            <a:picLocks noChangeAspect="1"/>
          </p:cNvPicPr>
          <p:nvPr/>
        </p:nvPicPr>
        <p:blipFill>
          <a:blip r:embed="rId3"/>
          <a:stretch>
            <a:fillRect/>
          </a:stretch>
        </p:blipFill>
        <p:spPr>
          <a:xfrm>
            <a:off x="7325711" y="359008"/>
            <a:ext cx="4469484" cy="3040025"/>
          </a:xfrm>
          <a:prstGeom prst="rect">
            <a:avLst/>
          </a:prstGeom>
        </p:spPr>
      </p:pic>
      <p:pic>
        <p:nvPicPr>
          <p:cNvPr id="7" name="Picture 6">
            <a:extLst>
              <a:ext uri="{FF2B5EF4-FFF2-40B4-BE49-F238E27FC236}">
                <a16:creationId xmlns:a16="http://schemas.microsoft.com/office/drawing/2014/main" id="{0787529F-317F-F795-E7FC-C72444504ADA}"/>
              </a:ext>
            </a:extLst>
          </p:cNvPr>
          <p:cNvPicPr>
            <a:picLocks noChangeAspect="1"/>
          </p:cNvPicPr>
          <p:nvPr/>
        </p:nvPicPr>
        <p:blipFill>
          <a:blip r:embed="rId4"/>
          <a:stretch>
            <a:fillRect/>
          </a:stretch>
        </p:blipFill>
        <p:spPr>
          <a:xfrm>
            <a:off x="4049315" y="3559052"/>
            <a:ext cx="4322340" cy="2961370"/>
          </a:xfrm>
          <a:prstGeom prst="rect">
            <a:avLst/>
          </a:prstGeom>
        </p:spPr>
      </p:pic>
    </p:spTree>
    <p:extLst>
      <p:ext uri="{BB962C8B-B14F-4D97-AF65-F5344CB8AC3E}">
        <p14:creationId xmlns:p14="http://schemas.microsoft.com/office/powerpoint/2010/main" val="3632344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56AD0-D604-36C3-A524-8843EF73FF32}"/>
              </a:ext>
            </a:extLst>
          </p:cNvPr>
          <p:cNvSpPr>
            <a:spLocks noGrp="1"/>
          </p:cNvSpPr>
          <p:nvPr>
            <p:ph type="title"/>
          </p:nvPr>
        </p:nvSpPr>
        <p:spPr>
          <a:xfrm>
            <a:off x="1309577" y="872689"/>
            <a:ext cx="8496575" cy="1092746"/>
          </a:xfrm>
        </p:spPr>
        <p:txBody>
          <a:bodyPr>
            <a:normAutofit/>
          </a:bodyPr>
          <a:lstStyle/>
          <a:p>
            <a:r>
              <a:rPr lang="en-US" sz="3200" dirty="0"/>
              <a:t>Milestone 5 — Live Monitoring Dashboard</a:t>
            </a:r>
            <a:endParaRPr lang="en-IN" sz="3200" dirty="0"/>
          </a:p>
        </p:txBody>
      </p:sp>
      <p:sp>
        <p:nvSpPr>
          <p:cNvPr id="4" name="Rectangle 1">
            <a:extLst>
              <a:ext uri="{FF2B5EF4-FFF2-40B4-BE49-F238E27FC236}">
                <a16:creationId xmlns:a16="http://schemas.microsoft.com/office/drawing/2014/main" id="{3F03CE35-4D1D-6E4B-546E-5A8D1644B107}"/>
              </a:ext>
            </a:extLst>
          </p:cNvPr>
          <p:cNvSpPr>
            <a:spLocks noGrp="1" noChangeArrowheads="1"/>
          </p:cNvSpPr>
          <p:nvPr>
            <p:ph type="body" idx="1"/>
          </p:nvPr>
        </p:nvSpPr>
        <p:spPr bwMode="auto">
          <a:xfrm>
            <a:off x="1141413" y="2666971"/>
            <a:ext cx="1075820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cap="none" dirty="0">
                <a:solidFill>
                  <a:schemeClr val="tx1"/>
                </a:solidFill>
                <a:latin typeface="Arial" panose="020B0604020202020204" pitchFamily="34" charset="0"/>
              </a:rPr>
              <a:t>I</a:t>
            </a:r>
            <a:r>
              <a:rPr kumimoji="0" lang="en-US" altLang="en-US" sz="2000" b="0" i="0" u="none" strike="noStrike" cap="none" normalizeH="0" baseline="0" dirty="0">
                <a:ln>
                  <a:noFill/>
                </a:ln>
                <a:solidFill>
                  <a:schemeClr val="tx1"/>
                </a:solidFill>
                <a:effectLst/>
                <a:latin typeface="Arial" panose="020B0604020202020204" pitchFamily="34" charset="0"/>
              </a:rPr>
              <a:t>ntegrated preprocessing, model prediction, and display into a single, cohesive application.</a:t>
            </a:r>
            <a:br>
              <a:rPr kumimoji="0" lang="en-US" altLang="en-US" sz="2000" b="0" i="0" u="none" strike="noStrike" cap="none" normalizeH="0" baseline="0" dirty="0">
                <a:ln>
                  <a:noFill/>
                </a:ln>
                <a:solidFill>
                  <a:schemeClr val="tx1"/>
                </a:solidFill>
                <a:effectLst/>
                <a:latin typeface="Arial" panose="020B0604020202020204" pitchFamily="34" charset="0"/>
              </a:rPr>
            </a:br>
            <a:endParaRPr lang="en-US" altLang="en-US" sz="2000" cap="none"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Allowed the uploading of simulated or real-time sensor data.</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Plotly</a:t>
            </a:r>
            <a:r>
              <a:rPr kumimoji="0" lang="en-US" altLang="en-US" sz="2000" b="0" i="0" u="none" strike="noStrike" cap="none" normalizeH="0" baseline="0" dirty="0">
                <a:ln>
                  <a:noFill/>
                </a:ln>
                <a:solidFill>
                  <a:schemeClr val="tx1"/>
                </a:solidFill>
                <a:effectLst/>
                <a:latin typeface="Arial" panose="020B0604020202020204" pitchFamily="34" charset="0"/>
              </a:rPr>
              <a:t> interactive charts were used to display real-time plots of RUL trends throughout time.</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Features for zooming and filtering have been added for improved analysis.</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Live alerts were given for critical machine conditions.</a:t>
            </a:r>
          </a:p>
        </p:txBody>
      </p:sp>
    </p:spTree>
    <p:extLst>
      <p:ext uri="{BB962C8B-B14F-4D97-AF65-F5344CB8AC3E}">
        <p14:creationId xmlns:p14="http://schemas.microsoft.com/office/powerpoint/2010/main" val="112620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1FAF362-3410-612D-1C99-C75198B165F1}"/>
              </a:ext>
            </a:extLst>
          </p:cNvPr>
          <p:cNvPicPr>
            <a:picLocks noChangeAspect="1"/>
          </p:cNvPicPr>
          <p:nvPr/>
        </p:nvPicPr>
        <p:blipFill>
          <a:blip r:embed="rId2"/>
          <a:stretch>
            <a:fillRect/>
          </a:stretch>
        </p:blipFill>
        <p:spPr>
          <a:xfrm>
            <a:off x="700700" y="212676"/>
            <a:ext cx="7294179" cy="2553153"/>
          </a:xfrm>
          <a:prstGeom prst="rect">
            <a:avLst/>
          </a:prstGeom>
        </p:spPr>
      </p:pic>
      <p:pic>
        <p:nvPicPr>
          <p:cNvPr id="13" name="Picture 12">
            <a:extLst>
              <a:ext uri="{FF2B5EF4-FFF2-40B4-BE49-F238E27FC236}">
                <a16:creationId xmlns:a16="http://schemas.microsoft.com/office/drawing/2014/main" id="{47C3427F-F4C9-E855-B0CD-D38870D538B5}"/>
              </a:ext>
            </a:extLst>
          </p:cNvPr>
          <p:cNvPicPr>
            <a:picLocks noChangeAspect="1"/>
          </p:cNvPicPr>
          <p:nvPr/>
        </p:nvPicPr>
        <p:blipFill>
          <a:blip r:embed="rId3"/>
          <a:stretch>
            <a:fillRect/>
          </a:stretch>
        </p:blipFill>
        <p:spPr>
          <a:xfrm>
            <a:off x="4789224" y="2873436"/>
            <a:ext cx="7222154" cy="3902089"/>
          </a:xfrm>
          <a:prstGeom prst="rect">
            <a:avLst/>
          </a:prstGeom>
        </p:spPr>
      </p:pic>
    </p:spTree>
    <p:extLst>
      <p:ext uri="{BB962C8B-B14F-4D97-AF65-F5344CB8AC3E}">
        <p14:creationId xmlns:p14="http://schemas.microsoft.com/office/powerpoint/2010/main" val="1545520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8365D3-BF31-E618-C2A7-CC093635D4CA}"/>
              </a:ext>
            </a:extLst>
          </p:cNvPr>
          <p:cNvPicPr>
            <a:picLocks noChangeAspect="1"/>
          </p:cNvPicPr>
          <p:nvPr/>
        </p:nvPicPr>
        <p:blipFill>
          <a:blip r:embed="rId2"/>
          <a:stretch>
            <a:fillRect/>
          </a:stretch>
        </p:blipFill>
        <p:spPr>
          <a:xfrm>
            <a:off x="5787058" y="229347"/>
            <a:ext cx="5952998" cy="2734570"/>
          </a:xfrm>
          <a:prstGeom prst="rect">
            <a:avLst/>
          </a:prstGeom>
        </p:spPr>
      </p:pic>
      <p:pic>
        <p:nvPicPr>
          <p:cNvPr id="7" name="Picture 6">
            <a:extLst>
              <a:ext uri="{FF2B5EF4-FFF2-40B4-BE49-F238E27FC236}">
                <a16:creationId xmlns:a16="http://schemas.microsoft.com/office/drawing/2014/main" id="{F47F1809-BC72-3ACB-DB19-848AA4C74536}"/>
              </a:ext>
            </a:extLst>
          </p:cNvPr>
          <p:cNvPicPr>
            <a:picLocks noChangeAspect="1"/>
          </p:cNvPicPr>
          <p:nvPr/>
        </p:nvPicPr>
        <p:blipFill>
          <a:blip r:embed="rId3"/>
          <a:stretch>
            <a:fillRect/>
          </a:stretch>
        </p:blipFill>
        <p:spPr>
          <a:xfrm>
            <a:off x="601044" y="3183539"/>
            <a:ext cx="6062235" cy="3445114"/>
          </a:xfrm>
          <a:prstGeom prst="rect">
            <a:avLst/>
          </a:prstGeom>
        </p:spPr>
      </p:pic>
    </p:spTree>
    <p:extLst>
      <p:ext uri="{BB962C8B-B14F-4D97-AF65-F5344CB8AC3E}">
        <p14:creationId xmlns:p14="http://schemas.microsoft.com/office/powerpoint/2010/main" val="2474077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A808A-9186-42B7-8446-BB7E3168C6EF}"/>
              </a:ext>
            </a:extLst>
          </p:cNvPr>
          <p:cNvSpPr>
            <a:spLocks noGrp="1"/>
          </p:cNvSpPr>
          <p:nvPr>
            <p:ph type="title"/>
          </p:nvPr>
        </p:nvSpPr>
        <p:spPr>
          <a:xfrm>
            <a:off x="1141411" y="1419226"/>
            <a:ext cx="8202286" cy="872029"/>
          </a:xfrm>
        </p:spPr>
        <p:txBody>
          <a:bodyPr>
            <a:normAutofit/>
          </a:bodyPr>
          <a:lstStyle/>
          <a:p>
            <a:r>
              <a:rPr lang="en-IN" sz="3200" dirty="0"/>
              <a:t>Conclusion &amp; Learning</a:t>
            </a:r>
          </a:p>
        </p:txBody>
      </p:sp>
      <p:sp>
        <p:nvSpPr>
          <p:cNvPr id="4" name="Rectangle 1">
            <a:extLst>
              <a:ext uri="{FF2B5EF4-FFF2-40B4-BE49-F238E27FC236}">
                <a16:creationId xmlns:a16="http://schemas.microsoft.com/office/drawing/2014/main" id="{283E5469-63DF-81E4-4111-239960C35CD2}"/>
              </a:ext>
            </a:extLst>
          </p:cNvPr>
          <p:cNvSpPr>
            <a:spLocks noGrp="1" noChangeArrowheads="1"/>
          </p:cNvSpPr>
          <p:nvPr>
            <p:ph type="body" idx="1"/>
          </p:nvPr>
        </p:nvSpPr>
        <p:spPr bwMode="auto">
          <a:xfrm>
            <a:off x="1025744" y="2755974"/>
            <a:ext cx="943424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cap="none" dirty="0">
                <a:solidFill>
                  <a:schemeClr val="tx1"/>
                </a:solidFill>
                <a:latin typeface="Arial" panose="020B0604020202020204" pitchFamily="34" charset="0"/>
              </a:rPr>
              <a:t>O</a:t>
            </a:r>
            <a:r>
              <a:rPr kumimoji="0" lang="en-US" altLang="en-US" sz="2000" b="0" i="0" u="none" strike="noStrike" cap="none" normalizeH="0" baseline="0" dirty="0">
                <a:ln>
                  <a:noFill/>
                </a:ln>
                <a:solidFill>
                  <a:schemeClr val="tx1"/>
                </a:solidFill>
                <a:effectLst/>
                <a:latin typeface="Arial" panose="020B0604020202020204" pitchFamily="34" charset="0"/>
              </a:rPr>
              <a:t>btained practical knowledge in AI, ML, and predictive analytics.</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Learned how to implement LSTM, handle data, and design features.</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Developed a deployable AI system for predictive maintenance in the real world.</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Improved analytical thinking, problem-solving, and collaborative abilities.</a:t>
            </a:r>
          </a:p>
        </p:txBody>
      </p:sp>
    </p:spTree>
    <p:extLst>
      <p:ext uri="{BB962C8B-B14F-4D97-AF65-F5344CB8AC3E}">
        <p14:creationId xmlns:p14="http://schemas.microsoft.com/office/powerpoint/2010/main" val="2131461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E4209-34D9-73F6-4FEE-99F64F11D52C}"/>
              </a:ext>
            </a:extLst>
          </p:cNvPr>
          <p:cNvSpPr>
            <a:spLocks noGrp="1"/>
          </p:cNvSpPr>
          <p:nvPr>
            <p:ph type="title"/>
          </p:nvPr>
        </p:nvSpPr>
        <p:spPr>
          <a:xfrm>
            <a:off x="1141411" y="890697"/>
            <a:ext cx="8528106" cy="787946"/>
          </a:xfrm>
        </p:spPr>
        <p:txBody>
          <a:bodyPr>
            <a:normAutofit/>
          </a:bodyPr>
          <a:lstStyle/>
          <a:p>
            <a:r>
              <a:rPr lang="en-IN" sz="3200" dirty="0"/>
              <a:t>Acknowledgment</a:t>
            </a:r>
          </a:p>
        </p:txBody>
      </p:sp>
      <p:sp>
        <p:nvSpPr>
          <p:cNvPr id="4" name="Rectangle 1">
            <a:extLst>
              <a:ext uri="{FF2B5EF4-FFF2-40B4-BE49-F238E27FC236}">
                <a16:creationId xmlns:a16="http://schemas.microsoft.com/office/drawing/2014/main" id="{DA04076F-5A72-1E86-3D0E-B493914FB2AC}"/>
              </a:ext>
            </a:extLst>
          </p:cNvPr>
          <p:cNvSpPr>
            <a:spLocks noGrp="1" noChangeArrowheads="1"/>
          </p:cNvSpPr>
          <p:nvPr>
            <p:ph type="body" idx="1"/>
          </p:nvPr>
        </p:nvSpPr>
        <p:spPr bwMode="auto">
          <a:xfrm>
            <a:off x="1004778" y="2605767"/>
            <a:ext cx="10291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 am truly grateful to Infosys Springboard for providing me with this internship opportunity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and for assisting me in developing my technical and problem-solving abilities.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A6559C36-EA37-8828-B191-68FAC7193B9D}"/>
              </a:ext>
            </a:extLst>
          </p:cNvPr>
          <p:cNvSpPr>
            <a:spLocks noChangeArrowheads="1"/>
          </p:cNvSpPr>
          <p:nvPr/>
        </p:nvSpPr>
        <p:spPr bwMode="auto">
          <a:xfrm>
            <a:off x="1004778" y="2767281"/>
            <a:ext cx="1045991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I am extremely appreciative of my peers and mentors for their help and support during this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journey.</a:t>
            </a:r>
          </a:p>
        </p:txBody>
      </p:sp>
    </p:spTree>
    <p:extLst>
      <p:ext uri="{BB962C8B-B14F-4D97-AF65-F5344CB8AC3E}">
        <p14:creationId xmlns:p14="http://schemas.microsoft.com/office/powerpoint/2010/main" val="2180313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3A49D-D38F-D580-6D5B-03CFA0D04323}"/>
              </a:ext>
            </a:extLst>
          </p:cNvPr>
          <p:cNvSpPr>
            <a:spLocks noGrp="1"/>
          </p:cNvSpPr>
          <p:nvPr>
            <p:ph type="title"/>
          </p:nvPr>
        </p:nvSpPr>
        <p:spPr>
          <a:xfrm>
            <a:off x="1141457" y="609600"/>
            <a:ext cx="9478418" cy="1251284"/>
          </a:xfrm>
        </p:spPr>
        <p:txBody>
          <a:bodyPr/>
          <a:lstStyle/>
          <a:p>
            <a:r>
              <a:rPr lang="en-IN" dirty="0"/>
              <a:t>References and Tools used</a:t>
            </a:r>
          </a:p>
        </p:txBody>
      </p:sp>
      <p:sp>
        <p:nvSpPr>
          <p:cNvPr id="4" name="Rectangle 1">
            <a:extLst>
              <a:ext uri="{FF2B5EF4-FFF2-40B4-BE49-F238E27FC236}">
                <a16:creationId xmlns:a16="http://schemas.microsoft.com/office/drawing/2014/main" id="{D11E1334-2114-84C3-D67F-81D67F8A7307}"/>
              </a:ext>
            </a:extLst>
          </p:cNvPr>
          <p:cNvSpPr>
            <a:spLocks noGrp="1" noChangeArrowheads="1"/>
          </p:cNvSpPr>
          <p:nvPr>
            <p:ph type="body" sz="half" idx="2"/>
          </p:nvPr>
        </p:nvSpPr>
        <p:spPr bwMode="auto">
          <a:xfrm>
            <a:off x="1141413" y="2102329"/>
            <a:ext cx="8654228"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Arial" panose="020B0604020202020204" pitchFamily="34" charset="0"/>
              </a:rPr>
              <a:t>Language : Python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Arial" panose="020B0604020202020204" pitchFamily="34" charset="0"/>
              </a:rPr>
              <a:t>Datasets : NASA CMAPSS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Arial" panose="020B0604020202020204" pitchFamily="34" charset="0"/>
              </a:rPr>
              <a:t>Libraries: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TensorFlow Documentation – </a:t>
            </a:r>
            <a:r>
              <a:rPr kumimoji="0" lang="en-US" altLang="en-US" sz="2000" b="0" i="0" u="none" strike="noStrike" cap="none" normalizeH="0" baseline="0" dirty="0">
                <a:ln>
                  <a:noFill/>
                </a:ln>
                <a:solidFill>
                  <a:schemeClr val="tx1"/>
                </a:solidFill>
                <a:effectLst/>
                <a:latin typeface="Arial" panose="020B0604020202020204" pitchFamily="34" charset="0"/>
                <a:hlinkClick r:id="rId2"/>
              </a:rPr>
              <a:t>https://www.tensorflow.org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Scikit-Learn Documentation – </a:t>
            </a:r>
            <a:r>
              <a:rPr kumimoji="0" lang="en-US" altLang="en-US" sz="2000" b="0" i="0" u="none" strike="noStrike" cap="none" normalizeH="0" baseline="0" dirty="0">
                <a:ln>
                  <a:noFill/>
                </a:ln>
                <a:solidFill>
                  <a:schemeClr val="tx1"/>
                </a:solidFill>
                <a:effectLst/>
                <a:latin typeface="Arial" panose="020B0604020202020204" pitchFamily="34" charset="0"/>
                <a:hlinkClick r:id="rId3"/>
              </a:rPr>
              <a:t>https://scikit-learn.org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Plotly</a:t>
            </a:r>
            <a:r>
              <a:rPr kumimoji="0" lang="en-US" altLang="en-US" sz="2000" b="0" i="0" u="none" strike="noStrike" cap="none" normalizeH="0" baseline="0" dirty="0">
                <a:ln>
                  <a:noFill/>
                </a:ln>
                <a:solidFill>
                  <a:schemeClr val="tx1"/>
                </a:solidFill>
                <a:effectLst/>
                <a:latin typeface="Arial" panose="020B0604020202020204" pitchFamily="34" charset="0"/>
              </a:rPr>
              <a:t> &amp; </a:t>
            </a:r>
            <a:r>
              <a:rPr kumimoji="0" lang="en-US" altLang="en-US" sz="2000" b="0" i="0" u="none" strike="noStrike" cap="none" normalizeH="0" baseline="0" dirty="0" err="1">
                <a:ln>
                  <a:noFill/>
                </a:ln>
                <a:solidFill>
                  <a:schemeClr val="tx1"/>
                </a:solidFill>
                <a:effectLst/>
                <a:latin typeface="Arial" panose="020B0604020202020204" pitchFamily="34" charset="0"/>
              </a:rPr>
              <a:t>Streamlit</a:t>
            </a:r>
            <a:r>
              <a:rPr kumimoji="0" lang="en-US" altLang="en-US" sz="2000" b="0" i="0" u="none" strike="noStrike" cap="none" normalizeH="0" baseline="0" dirty="0">
                <a:ln>
                  <a:noFill/>
                </a:ln>
                <a:solidFill>
                  <a:schemeClr val="tx1"/>
                </a:solidFill>
                <a:effectLst/>
                <a:latin typeface="Arial" panose="020B0604020202020204" pitchFamily="34" charset="0"/>
              </a:rPr>
              <a:t> Official Docs – </a:t>
            </a:r>
            <a:r>
              <a:rPr kumimoji="0" lang="en-US" altLang="en-US" sz="2000" b="0" i="0" u="none" strike="noStrike" cap="none" normalizeH="0" baseline="0" dirty="0">
                <a:ln>
                  <a:noFill/>
                </a:ln>
                <a:solidFill>
                  <a:schemeClr val="tx1"/>
                </a:solidFill>
                <a:effectLst/>
                <a:latin typeface="Arial" panose="020B0604020202020204" pitchFamily="34" charset="0"/>
                <a:hlinkClick r:id="rId4"/>
              </a:rPr>
              <a:t>https://plotly.com</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a:ln>
                  <a:noFill/>
                </a:ln>
                <a:solidFill>
                  <a:schemeClr val="tx1"/>
                </a:solidFill>
                <a:effectLst/>
                <a:latin typeface="Arial" panose="020B0604020202020204" pitchFamily="34" charset="0"/>
                <a:hlinkClick r:id="rId5"/>
              </a:rPr>
              <a:t>https://streamlit.io</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Arial" panose="020B0604020202020204" pitchFamily="34" charset="0"/>
              </a:rPr>
              <a:t>Environment: Visual Studio/ </a:t>
            </a:r>
            <a:r>
              <a:rPr lang="en-US" altLang="en-US" sz="2000" dirty="0" err="1">
                <a:latin typeface="Arial" panose="020B0604020202020204" pitchFamily="34" charset="0"/>
              </a:rPr>
              <a:t>Streamlit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380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C7E614D-4A47-7198-6F80-799069657A75}"/>
              </a:ext>
            </a:extLst>
          </p:cNvPr>
          <p:cNvSpPr>
            <a:spLocks noGrp="1"/>
          </p:cNvSpPr>
          <p:nvPr>
            <p:ph type="body" sz="half" idx="2"/>
          </p:nvPr>
        </p:nvSpPr>
        <p:spPr>
          <a:xfrm>
            <a:off x="3464196" y="2569777"/>
            <a:ext cx="9904459" cy="1371599"/>
          </a:xfrm>
        </p:spPr>
        <p:txBody>
          <a:bodyPr>
            <a:normAutofit/>
          </a:bodyPr>
          <a:lstStyle/>
          <a:p>
            <a:r>
              <a:rPr lang="en-IN" sz="72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7692643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205</TotalTime>
  <Words>754</Words>
  <Application>Microsoft Office PowerPoint</Application>
  <PresentationFormat>Widescreen</PresentationFormat>
  <Paragraphs>67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Times New Roman</vt:lpstr>
      <vt:lpstr>Tw Cen MT</vt:lpstr>
      <vt:lpstr>Circuit</vt:lpstr>
      <vt:lpstr>PrognosAI: AI-Driven Predictive Maintenance System Using Time-Series Sensor Data</vt:lpstr>
      <vt:lpstr>Agenda</vt:lpstr>
      <vt:lpstr>System model </vt:lpstr>
      <vt:lpstr>Milestone 1 – Data Understanding &amp; Preprocessing </vt:lpstr>
      <vt:lpstr>PowerPoint Presentation</vt:lpstr>
      <vt:lpstr>Milestone 3 — Model Evaluation and Testing</vt:lpstr>
      <vt:lpstr>Milestone 4 — Deployment and Visualization</vt:lpstr>
      <vt:lpstr>PowerPoint Presentation</vt:lpstr>
      <vt:lpstr>Milestone 5 — Live Monitoring Dashboard</vt:lpstr>
      <vt:lpstr>PowerPoint Presentation</vt:lpstr>
      <vt:lpstr>PowerPoint Presentation</vt:lpstr>
      <vt:lpstr>Conclusion &amp; Learning</vt:lpstr>
      <vt:lpstr>Acknowledgment</vt:lpstr>
      <vt:lpstr>References and Tools used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Vyshnavi Polisetty</dc:creator>
  <cp:lastModifiedBy>Vyshnavi Polisetty</cp:lastModifiedBy>
  <cp:revision>1</cp:revision>
  <dcterms:created xsi:type="dcterms:W3CDTF">2025-11-11T08:29:58Z</dcterms:created>
  <dcterms:modified xsi:type="dcterms:W3CDTF">2025-11-11T11:55:08Z</dcterms:modified>
</cp:coreProperties>
</file>